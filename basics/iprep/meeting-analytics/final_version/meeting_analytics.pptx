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</p:sldIdLst>
  <p:sldSz cx="12188825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382C63F-88F3-4E15-973A-B852EA752FA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A460C8E-677C-4945-B733-23716324186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86F598-1936-4B7C-8502-4867CACECCE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B18857-A95E-425E-B265-7F659BECF42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8443603-A66E-44EA-8436-CDC6B30CAF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9AEE15F-293F-44B3-8F4C-525BB87B9F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E95822A-B6D8-4107-9013-1C0EFA10E3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8F640EC-2DCB-4B63-B0B0-8A132BC879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EAE59F-D74D-4E7A-87C4-4EBA8578D6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F9AEFF7-38D7-43C9-80BF-3C95189240F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D3FEB60-6DB1-45C9-8169-D1FA97A0D2D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731520" y="2423160"/>
            <a:ext cx="10698120" cy="63720"/>
          </a:xfrm>
          <a:prstGeom prst="rect">
            <a:avLst/>
          </a:prstGeom>
          <a:solidFill>
            <a:srgbClr val="D62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731520" y="1188720"/>
            <a:ext cx="1069812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46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Transcript Intelligence</a:t>
            </a:r>
            <a:endParaRPr lang="en-US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2560320"/>
            <a:ext cx="1069812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1B2A4A"/>
                </a:solidFill>
                <a:effectLst/>
                <a:uFillTx/>
                <a:latin typeface="Calibri"/>
              </a:rPr>
              <a:t>AegisCloud Meeting Analytics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3291840"/>
            <a:ext cx="106981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666666"/>
                </a:solidFill>
                <a:effectLst/>
                <a:uFillTx/>
                <a:latin typeface="Calibri"/>
              </a:rPr>
              <a:t>Theme classification and actionable insights from 100 customer meetings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Box 1"/>
          <p:cNvSpPr/>
          <p:nvPr/>
        </p:nvSpPr>
        <p:spPr>
          <a:xfrm>
            <a:off x="457200" y="27432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Approach 1 — Rule-Based Keyword Matching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ectangle 2"/>
          <p:cNvSpPr/>
          <p:nvPr/>
        </p:nvSpPr>
        <p:spPr>
          <a:xfrm>
            <a:off x="457200" y="960120"/>
            <a:ext cx="2194200" cy="29232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"/>
          <p:cNvSpPr/>
          <p:nvPr/>
        </p:nvSpPr>
        <p:spPr>
          <a:xfrm>
            <a:off x="457200" y="14173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Every theme must be hand-coded — anything unexpected is invisible to the rules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457200" y="196596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"Pipeline failure" and "ingestion outage" mean the same thing; the rules treat them as 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5"/>
          <p:cNvSpPr/>
          <p:nvPr/>
        </p:nvSpPr>
        <p:spPr>
          <a:xfrm>
            <a:off x="457200" y="2514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Each product change or new customer term requires a manual update — breaks silently with no warning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1"/>
          <p:cNvSpPr/>
          <p:nvPr/>
        </p:nvSpPr>
        <p:spPr>
          <a:xfrm>
            <a:off x="457200" y="27432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Approach 2 — TF-IDF + KMeans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 2"/>
          <p:cNvSpPr/>
          <p:nvPr/>
        </p:nvSpPr>
        <p:spPr>
          <a:xfrm>
            <a:off x="457200" y="960120"/>
            <a:ext cx="2194200" cy="29232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457200" y="14173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Number of themes must be guessed upfront — wrong K forces unrelated topics together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457200" y="196596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Bag-of-words misses meaning: "outage remediation" and "post-mortem" treated as unrelated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5"/>
          <p:cNvSpPr/>
          <p:nvPr/>
        </p:nvSpPr>
        <p:spPr>
          <a:xfrm>
            <a:off x="457200" y="2514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Theme names are mechanical — top centroid terms like "renewal / competitive / pricing / outage"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457200" y="274320"/>
            <a:ext cx="10515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Approach 3 — Embeddings + HDBSCAN + LLM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457200" y="960120"/>
            <a:ext cx="2194200" cy="29232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457200" y="14173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Each topic phrase embedded independently — a meeting about HIPAA and API failures maps to two distinct clusters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457200" y="196596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HDBSCAN found 26 themes from the data — no K required, density-adaptive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5"/>
          <p:cNvSpPr/>
          <p:nvPr/>
        </p:nvSpPr>
        <p:spPr>
          <a:xfrm>
            <a:off x="457200" y="251460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LLM names the clusters, it does not form them — the hard work is done by the algorithm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6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8"/>
          <p:cNvSpPr/>
          <p:nvPr/>
        </p:nvSpPr>
        <p:spPr>
          <a:xfrm>
            <a:off x="457200" y="274320"/>
            <a:ext cx="105152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Theme Pipeline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5"/>
          <p:cNvSpPr/>
          <p:nvPr/>
        </p:nvSpPr>
        <p:spPr>
          <a:xfrm>
            <a:off x="1029600" y="6565320"/>
            <a:ext cx="51426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387000" y="1046880"/>
            <a:ext cx="7614000" cy="4668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457200" y="228600"/>
            <a:ext cx="112467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Database Schema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8" name="Picture 2" descr="image.png"/>
          <p:cNvPicPr/>
          <p:nvPr/>
        </p:nvPicPr>
        <p:blipFill>
          <a:blip r:embed="rId1"/>
          <a:stretch/>
        </p:blipFill>
        <p:spPr>
          <a:xfrm>
            <a:off x="365760" y="914400"/>
            <a:ext cx="6857640" cy="530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TextBox 3"/>
          <p:cNvSpPr/>
          <p:nvPr/>
        </p:nvSpPr>
        <p:spPr>
          <a:xfrm>
            <a:off x="7406640" y="1371600"/>
            <a:ext cx="44802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6 base tables loaded from raw JSON — meetings, summaries, key moments, action items, participants, transcripts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4"/>
          <p:cNvSpPr/>
          <p:nvPr/>
        </p:nvSpPr>
        <p:spPr>
          <a:xfrm>
            <a:off x="7406640" y="2743200"/>
            <a:ext cx="448020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3 semantic tables loaded from clustering — all insight queries join both layers in one schema with no cross-database joins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Meeting Breakdown by Call Type and Product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3"/>
          <p:cNvSpPr/>
          <p:nvPr/>
        </p:nvSpPr>
        <p:spPr>
          <a:xfrm>
            <a:off x="365760" y="1143000"/>
            <a:ext cx="441756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100 meetings: roughly half support, a quarter renewals, a quarter internal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4"/>
          <p:cNvSpPr/>
          <p:nvPr/>
        </p:nvSpPr>
        <p:spPr>
          <a:xfrm>
            <a:off x="365760" y="1847160"/>
            <a:ext cx="42926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Detect and Comply appear in the most meetings across the dataset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5"/>
          <p:cNvSpPr/>
          <p:nvPr/>
        </p:nvSpPr>
        <p:spPr>
          <a:xfrm>
            <a:off x="365760" y="2505600"/>
            <a:ext cx="4167360" cy="29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Sets the scale before any analysis begins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6" descr="image.png"/>
          <p:cNvPicPr/>
          <p:nvPr/>
        </p:nvPicPr>
        <p:blipFill>
          <a:blip r:embed="rId1"/>
          <a:stretch/>
        </p:blipFill>
        <p:spPr>
          <a:xfrm>
            <a:off x="5202360" y="699480"/>
            <a:ext cx="6684480" cy="4516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UMAP Scatter — 343 Topic Phrases, 26 Clusters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365760" y="1188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Each dot is a topic phrase from meeting summaries, coloured by cluster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4"/>
          <p:cNvSpPr/>
          <p:nvPr/>
        </p:nvSpPr>
        <p:spPr>
          <a:xfrm>
            <a:off x="365760" y="18471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26 themes emerged naturally — no K was specified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5"/>
          <p:cNvSpPr/>
          <p:nvPr/>
        </p:nvSpPr>
        <p:spPr>
          <a:xfrm>
            <a:off x="365760" y="25056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Detect phrases cluster tightly together; Comply sits as a separate island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6" descr="image.png"/>
          <p:cNvPicPr/>
          <p:nvPr/>
        </p:nvPicPr>
        <p:blipFill>
          <a:blip r:embed="rId1"/>
          <a:stretch/>
        </p:blipFill>
        <p:spPr>
          <a:xfrm>
            <a:off x="5669280" y="182880"/>
            <a:ext cx="6309000" cy="640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5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Theme Sentiment Heatmap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All Leadership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3"/>
          <p:cNvSpPr/>
          <p:nvPr/>
        </p:nvSpPr>
        <p:spPr>
          <a:xfrm>
            <a:off x="365760" y="1188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Sorted most negative (top) to most positive (bottom)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4"/>
          <p:cNvSpPr/>
          <p:nvPr/>
        </p:nvSpPr>
        <p:spPr>
          <a:xfrm>
            <a:off x="365760" y="18471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Detect-related themes dominate the red zone; Comply dominates the green zone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5"/>
          <p:cNvSpPr/>
          <p:nvPr/>
        </p:nvSpPr>
        <p:spPr>
          <a:xfrm>
            <a:off x="365760" y="25056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One product is in crisis — the other is the strongest asset in the portfolio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1" name="Picture 6" descr="image.png"/>
          <p:cNvPicPr/>
          <p:nvPr/>
        </p:nvPicPr>
        <p:blipFill>
          <a:blip r:embed="rId1"/>
          <a:stretch/>
        </p:blipFill>
        <p:spPr>
          <a:xfrm>
            <a:off x="5669280" y="182880"/>
            <a:ext cx="6309000" cy="6400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Churn Signals by Product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Sales, CS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365760" y="1188720"/>
            <a:ext cx="44946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Churn signals = moments where customers explicitly expressed risk of leaving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4"/>
          <p:cNvSpPr/>
          <p:nvPr/>
        </p:nvSpPr>
        <p:spPr>
          <a:xfrm>
            <a:off x="365760" y="1847160"/>
            <a:ext cx="40230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Detect generates far more churn signals than any other product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365760" y="2505600"/>
            <a:ext cx="394596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Direct input for account prioritisation and recovery planning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Picture 6" descr="image.png"/>
          <p:cNvPicPr/>
          <p:nvPr/>
        </p:nvPicPr>
        <p:blipFill>
          <a:blip r:embed="rId1"/>
          <a:stretch/>
        </p:blipFill>
        <p:spPr>
          <a:xfrm>
            <a:off x="5120640" y="416520"/>
            <a:ext cx="6857640" cy="5704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9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Accounts Needing Immediate Follow-Up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Sales, CS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3"/>
          <p:cNvSpPr/>
          <p:nvPr/>
        </p:nvSpPr>
        <p:spPr>
          <a:xfrm>
            <a:off x="365760" y="1188720"/>
            <a:ext cx="398448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38 meetings with negative sentiment and explicit churn signals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4"/>
          <p:cNvSpPr/>
          <p:nvPr/>
        </p:nvSpPr>
        <p:spPr>
          <a:xfrm>
            <a:off x="365760" y="1847160"/>
            <a:ext cx="417708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Ranked by severity — top rows are the most urgent accounts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5"/>
          <p:cNvSpPr/>
          <p:nvPr/>
        </p:nvSpPr>
        <p:spPr>
          <a:xfrm>
            <a:off x="365760" y="2505600"/>
            <a:ext cx="41000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Action list, not a trend — these accounts need a call this week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6" descr="image.png"/>
          <p:cNvPicPr/>
          <p:nvPr/>
        </p:nvPicPr>
        <p:blipFill>
          <a:blip r:embed="rId1"/>
          <a:stretch/>
        </p:blipFill>
        <p:spPr>
          <a:xfrm>
            <a:off x="5043600" y="500400"/>
            <a:ext cx="6944400" cy="533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Which Products Are Generating the Most Risk?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Engineering, Product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3"/>
          <p:cNvSpPr/>
          <p:nvPr/>
        </p:nvSpPr>
        <p:spPr>
          <a:xfrm>
            <a:off x="365760" y="1188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Three signals per product: total meetings, technical issues, and churn signals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4"/>
          <p:cNvSpPr/>
          <p:nvPr/>
        </p:nvSpPr>
        <p:spPr>
          <a:xfrm>
            <a:off x="365760" y="18471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Detect leads on both technical issues and churn — the outage created a long tail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365760" y="25056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Shows which product needs reliability investment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6" descr="image.png"/>
          <p:cNvPicPr/>
          <p:nvPr/>
        </p:nvPicPr>
        <p:blipFill>
          <a:blip r:embed="rId1"/>
          <a:stretch/>
        </p:blipFill>
        <p:spPr>
          <a:xfrm>
            <a:off x="5577840" y="442800"/>
            <a:ext cx="6309000" cy="515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Where Customers Are Happy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Product, Marketing, Sales, CS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3"/>
          <p:cNvSpPr/>
          <p:nvPr/>
        </p:nvSpPr>
        <p:spPr>
          <a:xfrm>
            <a:off x="365760" y="1188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Comply has the highest praise density of any product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4"/>
          <p:cNvSpPr/>
          <p:nvPr/>
        </p:nvSpPr>
        <p:spPr>
          <a:xfrm>
            <a:off x="365760" y="18471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Comply renewal conversations are the most positive in the dataset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365760" y="25056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Comply v2 is the good news story to pair with the Detect recovery message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6" descr="image.png"/>
          <p:cNvPicPr/>
          <p:nvPr/>
        </p:nvPicPr>
        <p:blipFill>
          <a:blip r:embed="rId1"/>
          <a:stretch/>
        </p:blipFill>
        <p:spPr>
          <a:xfrm>
            <a:off x="5669280" y="182880"/>
            <a:ext cx="6309000" cy="5351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How the Detect Outage Affected Renewal Calls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Engineering, Sales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365760" y="1188720"/>
            <a:ext cx="44946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Renewal meetings mentioning Detect are significantly more negative than those that do not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4"/>
          <p:cNvSpPr/>
          <p:nvPr/>
        </p:nvSpPr>
        <p:spPr>
          <a:xfrm>
            <a:off x="365760" y="1847160"/>
            <a:ext cx="449460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Over half of Detect renewal meetings carry an explicit churn signal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365760" y="2505600"/>
            <a:ext cx="432144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Outage conversations are bleeding into commercial calls that should be about growth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6" descr="image.png"/>
          <p:cNvPicPr/>
          <p:nvPr/>
        </p:nvPicPr>
        <p:blipFill>
          <a:blip r:embed="rId1"/>
          <a:stretch/>
        </p:blipFill>
        <p:spPr>
          <a:xfrm>
            <a:off x="4860720" y="841320"/>
            <a:ext cx="7181280" cy="3749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What Customers Are Asking For and How Urgently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Product (CPO)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3"/>
          <p:cNvSpPr/>
          <p:nvPr/>
        </p:nvSpPr>
        <p:spPr>
          <a:xfrm>
            <a:off x="365760" y="118872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Same feature request carries different urgency depending on the account situation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4"/>
          <p:cNvSpPr/>
          <p:nvPr/>
        </p:nvSpPr>
        <p:spPr>
          <a:xfrm>
            <a:off x="365760" y="184716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Blocked (red) = at-risk customer — treat as P0 and act immediately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5"/>
          <p:cNvSpPr/>
          <p:nvPr/>
        </p:nvSpPr>
        <p:spPr>
          <a:xfrm>
            <a:off x="365760" y="2505600"/>
            <a:ext cx="51202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Growing (green) = healthy account asking for more — add to the roadmap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3" name="Picture 6" descr="image.png"/>
          <p:cNvPicPr/>
          <p:nvPr/>
        </p:nvPicPr>
        <p:blipFill>
          <a:blip r:embed="rId1"/>
          <a:stretch/>
        </p:blipFill>
        <p:spPr>
          <a:xfrm>
            <a:off x="5679000" y="182880"/>
            <a:ext cx="6309000" cy="5640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4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TextBox 1"/>
          <p:cNvSpPr/>
          <p:nvPr/>
        </p:nvSpPr>
        <p:spPr>
          <a:xfrm>
            <a:off x="365760" y="228600"/>
            <a:ext cx="51202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Who Owns the Follow-Up Work?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Rectangle 2"/>
          <p:cNvSpPr/>
          <p:nvPr/>
        </p:nvSpPr>
        <p:spPr>
          <a:xfrm>
            <a:off x="365760" y="841320"/>
            <a:ext cx="2011320" cy="255600"/>
          </a:xfrm>
          <a:prstGeom prst="rect">
            <a:avLst/>
          </a:prstGeom>
          <a:solidFill>
            <a:srgbClr val="4444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For: Operations, Engineering, CS, Sales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365760" y="1188720"/>
            <a:ext cx="470628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Left: which themes generate the most follow-up actions across all meetings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365760" y="1847160"/>
            <a:ext cx="470628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Engineering carries the heaviest Detect load — reliability slips delay Comply v2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365760" y="2505600"/>
            <a:ext cx="4706280" cy="49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444444"/>
                </a:solidFill>
                <a:effectLst/>
                <a:uFillTx/>
                <a:latin typeface="Calibri"/>
              </a:rPr>
              <a:t>• Identifies where capacity bottlenecks sit before they become a problem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0" name="Picture 6" descr="image.png"/>
          <p:cNvPicPr/>
          <p:nvPr/>
        </p:nvPicPr>
        <p:blipFill>
          <a:blip r:embed="rId1"/>
          <a:stretch/>
        </p:blipFill>
        <p:spPr>
          <a:xfrm>
            <a:off x="4986000" y="228600"/>
            <a:ext cx="6992280" cy="5378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Box 7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TextBox 1"/>
          <p:cNvSpPr/>
          <p:nvPr/>
        </p:nvSpPr>
        <p:spPr>
          <a:xfrm>
            <a:off x="457200" y="274320"/>
            <a:ext cx="112467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Three Things to Act 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Oval 2"/>
          <p:cNvSpPr/>
          <p:nvPr/>
        </p:nvSpPr>
        <p:spPr>
          <a:xfrm>
            <a:off x="457200" y="1280160"/>
            <a:ext cx="502560" cy="502560"/>
          </a:xfrm>
          <a:prstGeom prst="ellipse">
            <a:avLst/>
          </a:prstGeom>
          <a:solidFill>
            <a:srgbClr val="D62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"/>
          <p:cNvSpPr/>
          <p:nvPr/>
        </p:nvSpPr>
        <p:spPr>
          <a:xfrm>
            <a:off x="1143000" y="124344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Fix Detect reliability before the next QBR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4"/>
          <p:cNvSpPr/>
          <p:nvPr/>
        </p:nvSpPr>
        <p:spPr>
          <a:xfrm>
            <a:off x="1143000" y="1664280"/>
            <a:ext cx="10515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It is the #1 churn driver across the dataset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Oval 5"/>
          <p:cNvSpPr/>
          <p:nvPr/>
        </p:nvSpPr>
        <p:spPr>
          <a:xfrm>
            <a:off x="457200" y="2834640"/>
            <a:ext cx="502560" cy="502560"/>
          </a:xfrm>
          <a:prstGeom prst="ellipse">
            <a:avLst/>
          </a:prstGeom>
          <a:solidFill>
            <a:srgbClr val="D62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6"/>
          <p:cNvSpPr/>
          <p:nvPr/>
        </p:nvSpPr>
        <p:spPr>
          <a:xfrm>
            <a:off x="1143000" y="279792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Call the 38 high-risk accounts this week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7"/>
          <p:cNvSpPr/>
          <p:nvPr/>
        </p:nvSpPr>
        <p:spPr>
          <a:xfrm>
            <a:off x="1143000" y="3218760"/>
            <a:ext cx="10515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They have negative sentiment and explicit churn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Oval 8"/>
          <p:cNvSpPr/>
          <p:nvPr/>
        </p:nvSpPr>
        <p:spPr>
          <a:xfrm>
            <a:off x="457200" y="4389120"/>
            <a:ext cx="502560" cy="502560"/>
          </a:xfrm>
          <a:prstGeom prst="ellipse">
            <a:avLst/>
          </a:prstGeom>
          <a:solidFill>
            <a:srgbClr val="D6272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9"/>
          <p:cNvSpPr/>
          <p:nvPr/>
        </p:nvSpPr>
        <p:spPr>
          <a:xfrm>
            <a:off x="1143000" y="4352400"/>
            <a:ext cx="10515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Lead with Comply v2 for at-risk Detect accounts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10"/>
          <p:cNvSpPr/>
          <p:nvPr/>
        </p:nvSpPr>
        <p:spPr>
          <a:xfrm>
            <a:off x="1143000" y="4773240"/>
            <a:ext cx="10515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CCCCCC"/>
                </a:solidFill>
                <a:effectLst/>
                <a:uFillTx/>
                <a:latin typeface="Calibri"/>
              </a:rPr>
              <a:t>Give them a reason to stay, not just an apology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11"/>
          <p:cNvSpPr/>
          <p:nvPr/>
        </p:nvSpPr>
        <p:spPr>
          <a:xfrm>
            <a:off x="274320" y="6565320"/>
            <a:ext cx="116125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777777"/>
                </a:solidFill>
                <a:effectLst/>
                <a:uFillTx/>
                <a:latin typeface="Calibri"/>
              </a:rPr>
              <a:t>Vikrant Potnis  |  vikrant.potnis@gmail.com  |  Prepared for Aziro (client Rubrik)  |  May 11, 2026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LibreOffice/26.2.2.2$Windows_X86_64 LibreOffice_project/1f77d10d6938fd34972958f64b2bcfa54f8b1ba5</Application>
  <AppVersion>15.0000</AppVersion>
  <Words>1162</Words>
  <Paragraphs>97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2026-05-11T14:29:01Z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16</vt:i4>
  </property>
</Properties>
</file>