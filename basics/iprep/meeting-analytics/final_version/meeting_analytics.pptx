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Transcript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CCCCC"/>
                </a:solidFill>
              </a:rPr>
              <a:t>AegisCloud Meeting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AAAA"/>
                </a:solidFill>
              </a:rPr>
              <a:t>Theme classification and actionable insights from 100 customer meetings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</a:rPr>
              <a:t>Approach 1 — Rule-Based Keyword Matching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194560" cy="29260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For: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Every theme must be hand-coded — anything unexpected is invisible to the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"Pipeline failure" and "ingestion outage" mean the same thing; the rules treat them as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Each product change or new customer term requires a manual update — breaks silently with no warning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</a:rPr>
              <a:t>Approach 2 — TF-IDF + KMeans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194560" cy="29260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For: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Number of themes must be guessed upfront — wrong K forces unrelated topics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Bag-of-words misses meaning: "outage remediation" and "post-mortem" treated as unrelated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Theme names are mechanical — top centroid terms like "renewal / competitive / pricing / outage"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</a:rPr>
              <a:t>Approach 3 — Embeddings + HDBSCAN + LLM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194560" cy="29260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For: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Each topic phrase embedded independently — a meeting about HIPAA and API failures maps to two distinct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HDBSCAN found 26 themes from the data — no K required, density-adaptive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LLM names the clusters, it does not form them — the hard work is done by the algorithm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2222"/>
                </a:solidFill>
              </a:rPr>
              <a:t>Database Schema</a:t>
            </a:r>
          </a:p>
        </p:txBody>
      </p:sp>
      <p:pic>
        <p:nvPicPr>
          <p:cNvPr id="3" name="Picture 2" descr="meeting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685800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37160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6 base tables loaded from raw JSON — meetings, summaries, key moments, action items, participants, transcripts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274320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3 semantic tables loaded from clustering — all insight queries join both layers in one schema with no cross-database joins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Meeting Breakdown by Call Type and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100 meetings: roughly half support, a quarter renewals, a quarter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Detect and Comply appear in the most meetings across the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Sets the scale before any analysis begins</a:t>
            </a:r>
          </a:p>
        </p:txBody>
      </p:sp>
      <p:pic>
        <p:nvPicPr>
          <p:cNvPr id="7" name="Picture 6" descr="00_datase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"/>
            <a:ext cx="630936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UMAP Scatter — 343 Topic Phrases, 26 Clusters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Each dot is a topic phrase from meeting summaries, coloured by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26 themes emerged naturally — no K was specified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Detect phrases cluster tightly together; Comply sits as a separate island</a:t>
            </a:r>
          </a:p>
        </p:txBody>
      </p:sp>
      <p:pic>
        <p:nvPicPr>
          <p:cNvPr id="7" name="Picture 6" descr="01_umap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"/>
            <a:ext cx="630936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Theme Sentiment Heatmap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All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Sorted most negative (top) to most positive (bottom)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Detect-related themes dominate the red zone; Comply dominates the green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One product is in crisis — the other is the strongest asset in the portfolio</a:t>
            </a:r>
          </a:p>
        </p:txBody>
      </p:sp>
      <p:pic>
        <p:nvPicPr>
          <p:cNvPr id="7" name="Picture 6" descr="03_theme_sentimen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"/>
            <a:ext cx="630936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Churn Signals by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Sales, 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Churn signals = moments where customers explicitly expressed risk of leaving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Detect generates far more churn signals than any other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Direct input for account prioritisation and recovery planning</a:t>
            </a:r>
          </a:p>
        </p:txBody>
      </p:sp>
      <p:pic>
        <p:nvPicPr>
          <p:cNvPr id="7" name="Picture 6" descr="04_churn_by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"/>
            <a:ext cx="630936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</a:rPr>
              <a:t>Accounts Needing Immediate Follow-Up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194560" cy="29260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For: Sales, 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</a:rPr>
              <a:t>• 38 meetings identified with both negative sentiment and explicit churn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</a:rPr>
              <a:t>• Ranked by severity — the top rows are the most urgent accounts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</a:rPr>
              <a:t>• This is an action list, not a trend — these accounts need a call this week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Which Products Are Generating the Most Risk?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Engineering,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Three signals per product: total meetings, technical issues, and churn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Detect leads on both technical issues and churn — the outage created a long 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Shows which product needs reliability investment first</a:t>
            </a:r>
          </a:p>
        </p:txBody>
      </p:sp>
      <p:pic>
        <p:nvPicPr>
          <p:cNvPr id="7" name="Picture 6" descr="05_product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"/>
            <a:ext cx="630936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Where Customers Are Happy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Product, Marketing, Sales, 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Comply has the highest praise density of any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Comply renewal conversations are the most positive in the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Comply v2 is the good news story to pair with the Detect recovery message</a:t>
            </a:r>
          </a:p>
        </p:txBody>
      </p:sp>
      <p:pic>
        <p:nvPicPr>
          <p:cNvPr id="7" name="Picture 6" descr="06_positive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"/>
            <a:ext cx="630936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How the Detect Outage Affected Renewal Calls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Engineering,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Renewal meetings mentioning Detect are significantly more negative than those that do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Over half of Detect renewal meetings carry an explicit churn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Outage conversations are bleeding into commercial calls that should be about growth</a:t>
            </a:r>
          </a:p>
        </p:txBody>
      </p:sp>
      <p:pic>
        <p:nvPicPr>
          <p:cNvPr id="7" name="Picture 6" descr="07_detect_external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"/>
            <a:ext cx="630936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What Customers Are Asking For and How Urgently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Product (CPO)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Same feature request carries different urgency depending on the account 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Blocked (red) = at-risk customer — treat as P0 and act immediately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Growing (green) = healthy account asking for more — add to the roadmap</a:t>
            </a:r>
          </a:p>
        </p:txBody>
      </p:sp>
      <p:pic>
        <p:nvPicPr>
          <p:cNvPr id="7" name="Picture 6" descr="08_feature_gaps_by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"/>
            <a:ext cx="630936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Who Owns the Follow-Up Work?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Operations, Engineering, CS,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Left: which themes generate the most follow-up actions across all meetings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Engineering carries the heaviest Detect load — reliability slips delay Comply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Identifies where capacity bottlenecks sit before they become a problem</a:t>
            </a:r>
          </a:p>
        </p:txBody>
      </p:sp>
      <p:pic>
        <p:nvPicPr>
          <p:cNvPr id="7" name="Picture 6" descr="09_action_item_ow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"/>
            <a:ext cx="630936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Three Things to Act On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24358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Fix Detect reliability before the next QBR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64207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It is the #1 churn driver across the dataset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834639"/>
            <a:ext cx="502920" cy="502920"/>
          </a:xfrm>
          <a:prstGeom prst="ellipse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98063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Call the 38 high-risk accounts this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18687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They have negative sentiment and explicit churn signals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389120"/>
            <a:ext cx="502920" cy="502920"/>
          </a:xfrm>
          <a:prstGeom prst="ellipse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5254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Lead with Comply v2 for at-risk Detect 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7731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It is the strongest counter-narrative in the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